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22BF0F-A6FE-492D-829F-9027CDE562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08DB93-B264-4CD7-BABF-45116F0B6B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3C2794-70C7-4239-B39F-82FAAEB4DD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6EC5F6-5088-4490-ABAB-9EE4E7DB3E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4263A0-3CE9-4BC0-988E-4923BBE3E5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46CAA7-2984-4FBF-B8F5-8988623929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36F66A-2E35-4349-822A-1B162B35F6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9B9CE1-2A70-4006-B618-4EFC94BB84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6B918C-3DCB-4B59-B305-155C52DFDC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869E91-8579-4BBC-9B68-A44F21CB8E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9FED61-41F4-4F1D-9CA5-2738D213A3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46E07F-FE6E-4037-9184-0943DB98C28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1B522ED-BB3E-4D28-8850-2E04DF7E1DE3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"/>
          <p:cNvSpPr/>
          <p:nvPr/>
        </p:nvSpPr>
        <p:spPr>
          <a:xfrm>
            <a:off x="502920" y="29268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7211b"/>
                </a:solidFill>
                <a:latin typeface="Arial"/>
              </a:rPr>
              <a:t>FarmAI: Demo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2" name="Subtitle"/>
          <p:cNvSpPr/>
          <p:nvPr/>
        </p:nvSpPr>
        <p:spPr>
          <a:xfrm>
            <a:off x="530280" y="804600"/>
            <a:ext cx="8777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d6b62"/>
                </a:solidFill>
                <a:latin typeface="Arial"/>
              </a:rPr>
              <a:t>A walkthrough of the HTML demo workflow: scan, detect, OCR, review, and export.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3" name="WorkflowBand"/>
          <p:cNvSpPr/>
          <p:nvPr/>
        </p:nvSpPr>
        <p:spPr>
          <a:xfrm>
            <a:off x="594360" y="1481400"/>
            <a:ext cx="10972440" cy="1096920"/>
          </a:xfrm>
          <a:prstGeom prst="roundRect">
            <a:avLst>
              <a:gd name="adj" fmla="val 16667"/>
            </a:avLst>
          </a:prstGeom>
          <a:solidFill>
            <a:srgbClr val="edf6ef"/>
          </a:solidFill>
          <a:ln w="9525">
            <a:solidFill>
              <a:srgbClr val="c9d9c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Workflow"/>
          <p:cNvSpPr/>
          <p:nvPr/>
        </p:nvSpPr>
        <p:spPr>
          <a:xfrm>
            <a:off x="868680" y="170064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f5d3b"/>
                </a:solidFill>
                <a:latin typeface="Arial"/>
              </a:rPr>
              <a:t>1. PDF input  -&gt;  2. Table detection  -&gt;  3. OCR cells  -&gt;  4. Human review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5" name="Bullets"/>
          <p:cNvSpPr/>
          <p:nvPr/>
        </p:nvSpPr>
        <p:spPr>
          <a:xfrm>
            <a:off x="731520" y="3063240"/>
            <a:ext cx="50288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>
              <a:lnSpc>
                <a:spcPct val="100000"/>
              </a:lnSpc>
              <a:buClr>
                <a:srgbClr val="17211b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7211b"/>
                </a:solidFill>
                <a:latin typeface="Arial"/>
              </a:rPr>
              <a:t>Demo opens on the source farm record PDF and editable table.</a:t>
            </a:r>
            <a:endParaRPr b="0" lang="en-US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17211b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7211b"/>
                </a:solidFill>
                <a:latin typeface="Arial"/>
              </a:rPr>
              <a:t>Top navigation lets reviewers inspect each pipeline stage.</a:t>
            </a:r>
            <a:endParaRPr b="0" lang="en-US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17211b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7211b"/>
                </a:solidFill>
                <a:latin typeface="Arial"/>
              </a:rPr>
              <a:t>OCR output is editable, confidence-aware, and exportable as CSV.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6" name="TableOverlay" descr=""/>
          <p:cNvPicPr/>
          <p:nvPr/>
        </p:nvPicPr>
        <p:blipFill>
          <a:blip r:embed="rId1"/>
          <a:stretch/>
        </p:blipFill>
        <p:spPr>
          <a:xfrm>
            <a:off x="7086600" y="2743200"/>
            <a:ext cx="4023000" cy="3885840"/>
          </a:xfrm>
          <a:prstGeom prst="rect">
            <a:avLst/>
          </a:prstGeom>
          <a:ln w="9525">
            <a:solidFill>
              <a:srgbClr val="d8ded8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"/>
          <p:cNvSpPr/>
          <p:nvPr/>
        </p:nvSpPr>
        <p:spPr>
          <a:xfrm>
            <a:off x="502920" y="29268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7211b"/>
                </a:solidFill>
                <a:latin typeface="Arial"/>
              </a:rPr>
              <a:t>1. PDF Input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8" name="Subtitle"/>
          <p:cNvSpPr/>
          <p:nvPr/>
        </p:nvSpPr>
        <p:spPr>
          <a:xfrm>
            <a:off x="530280" y="804600"/>
            <a:ext cx="8777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d6b62"/>
                </a:solidFill>
                <a:latin typeface="Arial"/>
              </a:rPr>
              <a:t>The demo starts with the original scanned farm record on the left.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9" name="Bullets"/>
          <p:cNvSpPr/>
          <p:nvPr/>
        </p:nvSpPr>
        <p:spPr>
          <a:xfrm>
            <a:off x="685800" y="1417320"/>
            <a:ext cx="41601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>
              <a:lnSpc>
                <a:spcPct val="100000"/>
              </a:lnSpc>
              <a:buClr>
                <a:srgbClr val="17211b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7211b"/>
                </a:solidFill>
                <a:latin typeface="Arial"/>
              </a:rPr>
              <a:t>Source document stays visible for traceability.</a:t>
            </a:r>
            <a:endParaRPr b="0" lang="en-US" sz="17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17211b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7211b"/>
                </a:solidFill>
                <a:latin typeface="Arial"/>
              </a:rPr>
              <a:t>Reviewers can compare extracted values against the original page.</a:t>
            </a:r>
            <a:endParaRPr b="0" lang="en-US" sz="17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17211b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7211b"/>
                </a:solidFill>
                <a:latin typeface="Arial"/>
              </a:rPr>
              <a:t>The default HTML view keeps this PDF + editable table layout.</a:t>
            </a:r>
            <a:endParaRPr b="0" lang="en-US" sz="1700" spc="-1" strike="noStrike">
              <a:latin typeface="Arial"/>
            </a:endParaRPr>
          </a:p>
        </p:txBody>
      </p:sp>
      <p:pic>
        <p:nvPicPr>
          <p:cNvPr id="50" name="FinalTable" descr=""/>
          <p:cNvPicPr/>
          <p:nvPr/>
        </p:nvPicPr>
        <p:blipFill>
          <a:blip r:embed="rId1"/>
          <a:stretch/>
        </p:blipFill>
        <p:spPr>
          <a:xfrm>
            <a:off x="5669280" y="1143000"/>
            <a:ext cx="4251600" cy="5257440"/>
          </a:xfrm>
          <a:prstGeom prst="rect">
            <a:avLst/>
          </a:prstGeom>
          <a:ln w="9525">
            <a:solidFill>
              <a:srgbClr val="d8ded8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"/>
          <p:cNvSpPr/>
          <p:nvPr/>
        </p:nvSpPr>
        <p:spPr>
          <a:xfrm>
            <a:off x="502920" y="29268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7211b"/>
                </a:solidFill>
                <a:latin typeface="Arial"/>
              </a:rPr>
              <a:t>2. Table Detection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52" name="Subtitle"/>
          <p:cNvSpPr/>
          <p:nvPr/>
        </p:nvSpPr>
        <p:spPr>
          <a:xfrm>
            <a:off x="530280" y="804600"/>
            <a:ext cx="8777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d6b62"/>
                </a:solidFill>
                <a:latin typeface="Arial"/>
              </a:rPr>
              <a:t>Clicking Table Detection switches to visual inspection outputs.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3" name="Bullets"/>
          <p:cNvSpPr/>
          <p:nvPr/>
        </p:nvSpPr>
        <p:spPr>
          <a:xfrm>
            <a:off x="685800" y="100584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>
              <a:lnSpc>
                <a:spcPct val="100000"/>
              </a:lnSpc>
              <a:buClr>
                <a:srgbClr val="17211b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7211b"/>
                </a:solidFill>
                <a:latin typeface="Arial"/>
              </a:rPr>
              <a:t>Left: line detection output shows the located row and column structure.</a:t>
            </a:r>
            <a:endParaRPr b="0" lang="en-US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17211b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7211b"/>
                </a:solidFill>
                <a:latin typeface="Arial"/>
              </a:rPr>
              <a:t>Right: overlay output shows detected table cells on the page.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54" name="LineDetection" descr=""/>
          <p:cNvPicPr/>
          <p:nvPr/>
        </p:nvPicPr>
        <p:blipFill>
          <a:blip r:embed="rId1"/>
          <a:stretch/>
        </p:blipFill>
        <p:spPr>
          <a:xfrm>
            <a:off x="685800" y="1901880"/>
            <a:ext cx="5257440" cy="3977280"/>
          </a:xfrm>
          <a:prstGeom prst="rect">
            <a:avLst/>
          </a:prstGeom>
          <a:ln w="9525">
            <a:solidFill>
              <a:srgbClr val="d8ded8"/>
            </a:solidFill>
            <a:round/>
          </a:ln>
        </p:spPr>
      </p:pic>
      <p:pic>
        <p:nvPicPr>
          <p:cNvPr id="55" name="TableOverlay" descr=""/>
          <p:cNvPicPr/>
          <p:nvPr/>
        </p:nvPicPr>
        <p:blipFill>
          <a:blip r:embed="rId2"/>
          <a:stretch/>
        </p:blipFill>
        <p:spPr>
          <a:xfrm>
            <a:off x="6473880" y="1417320"/>
            <a:ext cx="3154320" cy="4891680"/>
          </a:xfrm>
          <a:prstGeom prst="rect">
            <a:avLst/>
          </a:prstGeom>
          <a:ln w="9525">
            <a:solidFill>
              <a:srgbClr val="d8ded8"/>
            </a:solidFill>
            <a:round/>
          </a:ln>
        </p:spPr>
      </p:pic>
      <p:sp>
        <p:nvSpPr>
          <p:cNvPr id="56" name="LeftLabel"/>
          <p:cNvSpPr/>
          <p:nvPr/>
        </p:nvSpPr>
        <p:spPr>
          <a:xfrm>
            <a:off x="685800" y="5989320"/>
            <a:ext cx="5257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5d6b62"/>
                </a:solidFill>
                <a:latin typeface="Arial"/>
              </a:rPr>
              <a:t>Line detection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7" name="RightLabel"/>
          <p:cNvSpPr/>
          <p:nvPr/>
        </p:nvSpPr>
        <p:spPr>
          <a:xfrm>
            <a:off x="6473880" y="635508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5d6b62"/>
                </a:solidFill>
                <a:latin typeface="Arial"/>
              </a:rPr>
              <a:t>Table overlay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"/>
          <p:cNvSpPr/>
          <p:nvPr/>
        </p:nvSpPr>
        <p:spPr>
          <a:xfrm>
            <a:off x="502920" y="29268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7211b"/>
                </a:solidFill>
                <a:latin typeface="Arial"/>
              </a:rPr>
              <a:t>3. OCR Cells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59" name="Subtitle"/>
          <p:cNvSpPr/>
          <p:nvPr/>
        </p:nvSpPr>
        <p:spPr>
          <a:xfrm>
            <a:off x="530280" y="804600"/>
            <a:ext cx="8777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d6b62"/>
                </a:solidFill>
                <a:latin typeface="Arial"/>
              </a:rPr>
              <a:t>Clicking OCR Cells returns to the editable table view with the overlay on the left.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60" name="TableOverlay" descr=""/>
          <p:cNvPicPr/>
          <p:nvPr/>
        </p:nvPicPr>
        <p:blipFill>
          <a:blip r:embed="rId1"/>
          <a:stretch/>
        </p:blipFill>
        <p:spPr>
          <a:xfrm>
            <a:off x="731520" y="1143000"/>
            <a:ext cx="3291480" cy="5166000"/>
          </a:xfrm>
          <a:prstGeom prst="rect">
            <a:avLst/>
          </a:prstGeom>
          <a:ln w="9525">
            <a:solidFill>
              <a:srgbClr val="d8ded8"/>
            </a:solidFill>
            <a:round/>
          </a:ln>
        </p:spPr>
      </p:pic>
      <p:sp>
        <p:nvSpPr>
          <p:cNvPr id="61" name="Metrics"/>
          <p:cNvSpPr/>
          <p:nvPr/>
        </p:nvSpPr>
        <p:spPr>
          <a:xfrm>
            <a:off x="4572000" y="1325880"/>
            <a:ext cx="6309000" cy="776880"/>
          </a:xfrm>
          <a:prstGeom prst="roundRect">
            <a:avLst>
              <a:gd name="adj" fmla="val 16667"/>
            </a:avLst>
          </a:prstGeom>
          <a:solidFill>
            <a:srgbClr val="edf6ef"/>
          </a:solidFill>
          <a:ln w="9525">
            <a:solidFill>
              <a:srgbClr val="c9d9c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MetricsText"/>
          <p:cNvSpPr/>
          <p:nvPr/>
        </p:nvSpPr>
        <p:spPr>
          <a:xfrm>
            <a:off x="4800600" y="1499760"/>
            <a:ext cx="5806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1f5d3b"/>
                </a:solidFill>
                <a:latin typeface="Arial"/>
              </a:rPr>
              <a:t>48 cells detected     92% average confidence     5 cells flagged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3" name="Bullets"/>
          <p:cNvSpPr/>
          <p:nvPr/>
        </p:nvSpPr>
        <p:spPr>
          <a:xfrm>
            <a:off x="4617720" y="2468880"/>
            <a:ext cx="57603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>
              <a:lnSpc>
                <a:spcPct val="100000"/>
              </a:lnSpc>
              <a:buClr>
                <a:srgbClr val="17211b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7211b"/>
                </a:solidFill>
                <a:latin typeface="Arial"/>
              </a:rPr>
              <a:t>Table headers and cell text load from table_ocr_farm_record_table_p1.json.</a:t>
            </a:r>
            <a:endParaRPr b="0" lang="en-US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17211b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7211b"/>
                </a:solidFill>
                <a:latin typeface="Arial"/>
              </a:rPr>
              <a:t>Low-confidence cells are highlighted for reviewer attention.</a:t>
            </a:r>
            <a:endParaRPr b="0" lang="en-US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17211b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7211b"/>
                </a:solidFill>
                <a:latin typeface="Arial"/>
              </a:rPr>
              <a:t>Cells remain directly editable before export.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"/>
          <p:cNvSpPr/>
          <p:nvPr/>
        </p:nvSpPr>
        <p:spPr>
          <a:xfrm>
            <a:off x="502920" y="29268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7211b"/>
                </a:solidFill>
                <a:latin typeface="Arial"/>
              </a:rPr>
              <a:t>4. Human Review and CSV Export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65" name="Subtitle"/>
          <p:cNvSpPr/>
          <p:nvPr/>
        </p:nvSpPr>
        <p:spPr>
          <a:xfrm>
            <a:off x="530280" y="804600"/>
            <a:ext cx="8777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d6b62"/>
                </a:solidFill>
                <a:latin typeface="Arial"/>
              </a:rPr>
              <a:t>The final step is a lightweight correction loop before download.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6" name="Bullets"/>
          <p:cNvSpPr/>
          <p:nvPr/>
        </p:nvSpPr>
        <p:spPr>
          <a:xfrm>
            <a:off x="777240" y="1325880"/>
            <a:ext cx="521172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>
              <a:lnSpc>
                <a:spcPct val="100000"/>
              </a:lnSpc>
              <a:buClr>
                <a:srgbClr val="17211b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7211b"/>
                </a:solidFill>
                <a:latin typeface="Arial"/>
              </a:rPr>
              <a:t>Reviewer corrects OCR mistakes directly in the table.</a:t>
            </a:r>
            <a:endParaRPr b="0" lang="en-US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17211b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7211b"/>
                </a:solidFill>
                <a:latin typeface="Arial"/>
              </a:rPr>
              <a:t>Reset sample restores the OCR JSON data.</a:t>
            </a:r>
            <a:endParaRPr b="0" lang="en-US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17211b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7211b"/>
                </a:solidFill>
                <a:latin typeface="Arial"/>
              </a:rPr>
              <a:t>Download CSV exports the current edited values.</a:t>
            </a:r>
            <a:endParaRPr b="0" lang="en-US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17211b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7211b"/>
                </a:solidFill>
                <a:latin typeface="Arial"/>
              </a:rPr>
              <a:t>The workflow keeps visual evidence beside the editable result.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" name="Button1"/>
          <p:cNvSpPr/>
          <p:nvPr/>
        </p:nvSpPr>
        <p:spPr>
          <a:xfrm>
            <a:off x="6446520" y="1417320"/>
            <a:ext cx="196560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8de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ResetText"/>
          <p:cNvSpPr/>
          <p:nvPr/>
        </p:nvSpPr>
        <p:spPr>
          <a:xfrm>
            <a:off x="6656760" y="15728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17211b"/>
                </a:solidFill>
                <a:latin typeface="Arial"/>
              </a:rPr>
              <a:t>Reset sample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9" name="Button2"/>
          <p:cNvSpPr/>
          <p:nvPr/>
        </p:nvSpPr>
        <p:spPr>
          <a:xfrm>
            <a:off x="8732520" y="1417320"/>
            <a:ext cx="1965600" cy="566640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 w="9525">
            <a:solidFill>
              <a:srgbClr val="1f5d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DownloadText"/>
          <p:cNvSpPr/>
          <p:nvPr/>
        </p:nvSpPr>
        <p:spPr>
          <a:xfrm>
            <a:off x="8924400" y="157284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Download CSV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71" name="GridProjection" descr=""/>
          <p:cNvPicPr/>
          <p:nvPr/>
        </p:nvPicPr>
        <p:blipFill>
          <a:blip r:embed="rId1"/>
          <a:stretch/>
        </p:blipFill>
        <p:spPr>
          <a:xfrm>
            <a:off x="6675120" y="2514600"/>
            <a:ext cx="3474360" cy="3611520"/>
          </a:xfrm>
          <a:prstGeom prst="rect">
            <a:avLst/>
          </a:prstGeom>
          <a:ln w="9525">
            <a:solidFill>
              <a:srgbClr val="d8ded8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FarmAI</dc:creator>
  <dc:description/>
  <dc:language>en-US</dc:language>
  <cp:lastModifiedBy/>
  <dcterms:modified xsi:type="dcterms:W3CDTF">2026-06-15T17:10:17Z</dcterms:modified>
  <cp:revision>1</cp:revision>
  <dc:subject>Demo workflow slideshow</dc:subject>
  <dc:title>FarmAI PDF to Editable Table Demo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5</vt:i4>
  </property>
</Properties>
</file>